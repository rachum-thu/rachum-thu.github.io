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98"/>
  </p:normalViewPr>
  <p:slideViewPr>
    <p:cSldViewPr snapToGrid="0">
      <p:cViewPr>
        <p:scale>
          <a:sx n="34" d="100"/>
          <a:sy n="34" d="100"/>
        </p:scale>
        <p:origin x="4840" y="-2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09682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9376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2365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002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424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3460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890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384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07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4183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442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1AA38-440B-7F4A-A9F4-9712E8719F7E}" type="datetimeFigureOut">
              <a:rPr lang="en-CN" smtClean="0"/>
              <a:t>2024/5/25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1C9E5-1E3C-CF4B-9558-411E2DF350C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45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hyperlink" Target="mailto:pj20@illinois.edu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F5EAFF-0079-E156-352D-1A6BC0611E4C}"/>
              </a:ext>
            </a:extLst>
          </p:cNvPr>
          <p:cNvSpPr/>
          <p:nvPr/>
        </p:nvSpPr>
        <p:spPr>
          <a:xfrm>
            <a:off x="-1" y="58960"/>
            <a:ext cx="30312000" cy="5256000"/>
          </a:xfrm>
          <a:prstGeom prst="roundRect">
            <a:avLst>
              <a:gd name="adj" fmla="val 6104"/>
            </a:avLst>
          </a:prstGeom>
          <a:solidFill>
            <a:schemeClr val="accent2">
              <a:lumMod val="20000"/>
              <a:lumOff val="80000"/>
              <a:alpha val="29959"/>
            </a:schemeClr>
          </a:solidFill>
          <a:ln w="76200" cap="flat">
            <a:solidFill>
              <a:schemeClr val="accent2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01E40979-0C5F-31AD-E15D-3ECC22EE535B}"/>
              </a:ext>
            </a:extLst>
          </p:cNvPr>
          <p:cNvSpPr txBox="1"/>
          <p:nvPr/>
        </p:nvSpPr>
        <p:spPr>
          <a:xfrm>
            <a:off x="1841636" y="390773"/>
            <a:ext cx="21734932" cy="212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CN" sz="6600" b="1" dirty="0">
                <a:latin typeface="Arial" panose="020B0604020202020204" pitchFamily="34" charset="0"/>
                <a:cs typeface="Arial" panose="020B0604020202020204" pitchFamily="34" charset="0"/>
              </a:rPr>
              <a:t>TriSum: Learning Summarization Ability from Large Language Models with Structured Rationale</a:t>
            </a:r>
          </a:p>
        </p:txBody>
      </p:sp>
      <p:sp>
        <p:nvSpPr>
          <p:cNvPr id="6" name="TextBox 37">
            <a:extLst>
              <a:ext uri="{FF2B5EF4-FFF2-40B4-BE49-F238E27FC236}">
                <a16:creationId xmlns:a16="http://schemas.microsoft.com/office/drawing/2014/main" id="{2AF35080-8D8F-9F03-1266-CA534130CD22}"/>
              </a:ext>
            </a:extLst>
          </p:cNvPr>
          <p:cNvSpPr txBox="1"/>
          <p:nvPr/>
        </p:nvSpPr>
        <p:spPr>
          <a:xfrm>
            <a:off x="3996065" y="2686960"/>
            <a:ext cx="18251720" cy="2268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altLang="zh-CN" sz="4400" dirty="0" err="1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Pengcheng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Jiang</a:t>
            </a:r>
            <a:r>
              <a:rPr lang="en-US" altLang="zh-CN" sz="4400" baseline="300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Cao Xiao</a:t>
            </a:r>
            <a:r>
              <a:rPr lang="en-US" altLang="zh-CN" sz="4400" baseline="300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400" dirty="0" err="1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Zifeng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Wang</a:t>
            </a:r>
            <a:r>
              <a:rPr lang="en-US" altLang="zh-CN" sz="4400" baseline="300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 Parminder Bhatia</a:t>
            </a:r>
            <a:r>
              <a:rPr lang="en-US" altLang="zh-CN" sz="4400" baseline="300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4400" dirty="0" err="1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Jimeng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Sun</a:t>
            </a:r>
            <a:r>
              <a:rPr lang="en-US" altLang="zh-CN" sz="4400" baseline="300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Jiawei Han</a:t>
            </a:r>
            <a:r>
              <a:rPr lang="en-US" altLang="zh-CN" sz="4400" baseline="300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altLang="zh-CN" sz="4400" dirty="0">
                <a:effectLst>
                  <a:outerShdw blurRad="38100" dist="38100" dir="2700000" sx="1000" sy="1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[1] University of Illinois Urbana-Champaign       [2] GE HealthCare 		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0590F7A-9323-EB25-F5F4-E53373B40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8399" y="2082650"/>
            <a:ext cx="4151769" cy="107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9B4D1BFC-9721-807D-748A-9567BAC34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1678" y="3635886"/>
            <a:ext cx="4832528" cy="107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NAACL 2024">
            <a:extLst>
              <a:ext uri="{FF2B5EF4-FFF2-40B4-BE49-F238E27FC236}">
                <a16:creationId xmlns:a16="http://schemas.microsoft.com/office/drawing/2014/main" id="{90078A7F-9467-2626-D0AE-E3E913329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305" y="480183"/>
            <a:ext cx="1537799" cy="107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45F603-3794-0B9A-6802-93E5A3444A58}"/>
              </a:ext>
            </a:extLst>
          </p:cNvPr>
          <p:cNvSpPr txBox="1"/>
          <p:nvPr/>
        </p:nvSpPr>
        <p:spPr>
          <a:xfrm>
            <a:off x="26187104" y="664469"/>
            <a:ext cx="26634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4000" b="1" dirty="0">
                <a:latin typeface="Arial" panose="020B0604020202020204" pitchFamily="34" charset="0"/>
                <a:cs typeface="Arial" panose="020B0604020202020204" pitchFamily="34" charset="0"/>
              </a:rPr>
              <a:t>NAACL’24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9922F5A-AFD4-21C2-1119-CA37CF9DE2F4}"/>
              </a:ext>
            </a:extLst>
          </p:cNvPr>
          <p:cNvSpPr/>
          <p:nvPr/>
        </p:nvSpPr>
        <p:spPr>
          <a:xfrm>
            <a:off x="674706" y="5410791"/>
            <a:ext cx="10452422" cy="903384"/>
          </a:xfrm>
          <a:prstGeom prst="roundRect">
            <a:avLst>
              <a:gd name="adj" fmla="val 26337"/>
            </a:avLst>
          </a:prstGeom>
          <a:solidFill>
            <a:srgbClr val="7030A0"/>
          </a:solidFill>
          <a:ln w="762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CN" sz="4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Introduction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E073E68-DE74-70DB-D706-5DABDA2CA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3940" y="6577958"/>
            <a:ext cx="17840644" cy="7305981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39CF70A-ED1D-173A-7DAB-4F1D31296BE6}"/>
              </a:ext>
            </a:extLst>
          </p:cNvPr>
          <p:cNvSpPr/>
          <p:nvPr/>
        </p:nvSpPr>
        <p:spPr>
          <a:xfrm>
            <a:off x="13023926" y="5506975"/>
            <a:ext cx="16654511" cy="903384"/>
          </a:xfrm>
          <a:prstGeom prst="roundRect">
            <a:avLst>
              <a:gd name="adj" fmla="val 26337"/>
            </a:avLst>
          </a:prstGeom>
          <a:solidFill>
            <a:srgbClr val="7030A0"/>
          </a:solidFill>
          <a:ln w="762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CN" sz="4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Methodology – TriSum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494452-8774-4FD3-C61E-C054FF190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079" y="23931666"/>
            <a:ext cx="17294391" cy="67971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B1EE1E-2275-949E-C334-E7226579723D}"/>
              </a:ext>
            </a:extLst>
          </p:cNvPr>
          <p:cNvSpPr txBox="1"/>
          <p:nvPr/>
        </p:nvSpPr>
        <p:spPr>
          <a:xfrm>
            <a:off x="7202139" y="30760808"/>
            <a:ext cx="5821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b="1" dirty="0"/>
              <a:t>ROUGE score performance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91DB07-6039-770A-5E66-B3984F58FEBA}"/>
              </a:ext>
            </a:extLst>
          </p:cNvPr>
          <p:cNvSpPr txBox="1"/>
          <p:nvPr/>
        </p:nvSpPr>
        <p:spPr>
          <a:xfrm>
            <a:off x="1318079" y="31388356"/>
            <a:ext cx="2767584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14350" indent="-514350">
              <a:buAutoNum type="arabicPeriod"/>
            </a:pP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On average, </a:t>
            </a:r>
            <a:r>
              <a:rPr lang="en-US" sz="3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TriSum</a:t>
            </a:r>
            <a:r>
              <a:rPr lang="en-US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-J consistently outperformed state-of-the-art baselines, achieving improvements of 4.5%, 8.5%, and 7.4% in ROUGE scores, respectively.</a:t>
            </a:r>
          </a:p>
          <a:p>
            <a:pPr marL="514350" indent="-514350">
              <a:buFontTx/>
              <a:buAutoNum type="arabicPeriod"/>
            </a:pPr>
            <a:r>
              <a:rPr lang="en-US" sz="3200" dirty="0" err="1">
                <a:effectLst/>
                <a:latin typeface="Helvetica Neue" panose="02000503000000020004" pitchFamily="2" charset="0"/>
              </a:rPr>
              <a:t>TriSum</a:t>
            </a:r>
            <a:r>
              <a:rPr lang="en-US" sz="3200" dirty="0">
                <a:effectLst/>
                <a:latin typeface="Helvetica Neue" panose="02000503000000020004" pitchFamily="2" charset="0"/>
              </a:rPr>
              <a:t>-generated rationales also enhanced the performance of LLMs themselves (GPT-3.5 w/ </a:t>
            </a:r>
            <a:r>
              <a:rPr lang="en-US" sz="3200" dirty="0" err="1">
                <a:effectLst/>
                <a:latin typeface="Helvetica Neue" panose="02000503000000020004" pitchFamily="2" charset="0"/>
              </a:rPr>
              <a:t>TriSum’s</a:t>
            </a:r>
            <a:r>
              <a:rPr lang="en-US" sz="3200" dirty="0">
                <a:effectLst/>
                <a:latin typeface="Helvetica Neue" panose="02000503000000020004" pitchFamily="2" charset="0"/>
              </a:rPr>
              <a:t> rationale), showcasing the value of interpretable rationales.</a:t>
            </a:r>
            <a:endParaRPr lang="en-US" sz="3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91642A5-29C3-4A76-43D5-2498A951E7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4711" y="23931666"/>
            <a:ext cx="8778237" cy="685949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8E6C7C6-EFE8-552B-FD05-D8FE03219F1B}"/>
              </a:ext>
            </a:extLst>
          </p:cNvPr>
          <p:cNvSpPr txBox="1"/>
          <p:nvPr/>
        </p:nvSpPr>
        <p:spPr>
          <a:xfrm>
            <a:off x="20334081" y="30760808"/>
            <a:ext cx="7759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b="1" dirty="0"/>
              <a:t>BERTScore/BARTScore performance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0CE5F39-2B6F-8600-CBA3-9E3BB771E1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8632" y="34339908"/>
            <a:ext cx="17806723" cy="540351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040F3E3-216F-ECAC-5681-E554D0DBF490}"/>
              </a:ext>
            </a:extLst>
          </p:cNvPr>
          <p:cNvSpPr txBox="1"/>
          <p:nvPr/>
        </p:nvSpPr>
        <p:spPr>
          <a:xfrm>
            <a:off x="1325556" y="39789218"/>
            <a:ext cx="17806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N" sz="3600" b="1" dirty="0">
                <a:latin typeface="Arial" panose="020B0604020202020204" pitchFamily="34" charset="0"/>
                <a:cs typeface="Arial" panose="020B0604020202020204" pitchFamily="34" charset="0"/>
              </a:rPr>
              <a:t>An ex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CN" sz="3600" b="1" dirty="0">
                <a:latin typeface="Arial" panose="020B0604020202020204" pitchFamily="34" charset="0"/>
                <a:cs typeface="Arial" panose="020B0604020202020204" pitchFamily="34" charset="0"/>
              </a:rPr>
              <a:t>ple of abstractive summarization of an article in CNN/DailyMail dataset.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We use different colors to show the distinct topics in the article and summary.</a:t>
            </a:r>
            <a:endParaRPr lang="en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3E42D7-5874-0118-B201-212E5418A3A8}"/>
              </a:ext>
            </a:extLst>
          </p:cNvPr>
          <p:cNvSpPr txBox="1"/>
          <p:nvPr/>
        </p:nvSpPr>
        <p:spPr>
          <a:xfrm>
            <a:off x="1209670" y="41283851"/>
            <a:ext cx="178067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rationale provides a structured breakdown of the essential information, enhancing the interpretability of the summarization process.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E10582B-BAC8-8568-1D92-5ECE98B01E98}"/>
              </a:ext>
            </a:extLst>
          </p:cNvPr>
          <p:cNvSpPr/>
          <p:nvPr/>
        </p:nvSpPr>
        <p:spPr>
          <a:xfrm>
            <a:off x="19620172" y="34179281"/>
            <a:ext cx="10058265" cy="903384"/>
          </a:xfrm>
          <a:prstGeom prst="roundRect">
            <a:avLst>
              <a:gd name="adj" fmla="val 26337"/>
            </a:avLst>
          </a:prstGeom>
          <a:solidFill>
            <a:srgbClr val="7030A0"/>
          </a:solidFill>
          <a:ln w="762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CN" sz="4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Future Works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8CC731-3300-4E8B-FB73-731D7D426B80}"/>
              </a:ext>
            </a:extLst>
          </p:cNvPr>
          <p:cNvSpPr txBox="1"/>
          <p:nvPr/>
        </p:nvSpPr>
        <p:spPr>
          <a:xfrm>
            <a:off x="19132279" y="13923809"/>
            <a:ext cx="4183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b="1" dirty="0"/>
              <a:t>TriSum Framework</a:t>
            </a:r>
          </a:p>
        </p:txBody>
      </p:sp>
      <p:pic>
        <p:nvPicPr>
          <p:cNvPr id="1028" name="Picture 4" descr="Pegatinas Para Niños - Sesame Street Bert Face Clipart (600x600), Png  Download | Sesame street, Sesame street birthday party, Bible crafts  preschool">
            <a:extLst>
              <a:ext uri="{FF2B5EF4-FFF2-40B4-BE49-F238E27FC236}">
                <a16:creationId xmlns:a16="http://schemas.microsoft.com/office/drawing/2014/main" id="{446DA7DE-DB59-1ED0-4AFC-560B9F7BA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32" y="11511436"/>
            <a:ext cx="1166085" cy="173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579E74A-594A-E4AF-4F88-A3FFC820465B}"/>
              </a:ext>
            </a:extLst>
          </p:cNvPr>
          <p:cNvSpPr txBox="1"/>
          <p:nvPr/>
        </p:nvSpPr>
        <p:spPr>
          <a:xfrm>
            <a:off x="429676" y="6772589"/>
            <a:ext cx="109964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the era of information overload, text summarization has become a crucial tool for quickly grasping the essence of lengthy documents.</a:t>
            </a:r>
          </a:p>
        </p:txBody>
      </p:sp>
      <p:pic>
        <p:nvPicPr>
          <p:cNvPr id="36" name="Picture 6" descr="Summarize Written Text using Google's BERT | Machine Learning | Deep  Learning">
            <a:extLst>
              <a:ext uri="{FF2B5EF4-FFF2-40B4-BE49-F238E27FC236}">
                <a16:creationId xmlns:a16="http://schemas.microsoft.com/office/drawing/2014/main" id="{9D638276-BA4F-C379-1A60-8949B12E6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76" y="8143039"/>
            <a:ext cx="4208334" cy="236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D16F50C-D6CD-DF7C-BB53-0A6696D671D4}"/>
              </a:ext>
            </a:extLst>
          </p:cNvPr>
          <p:cNvSpPr txBox="1"/>
          <p:nvPr/>
        </p:nvSpPr>
        <p:spPr>
          <a:xfrm>
            <a:off x="264187" y="13234639"/>
            <a:ext cx="30968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</a:t>
            </a:r>
            <a:r>
              <a:rPr lang="en-CN" sz="3200" dirty="0"/>
              <a:t>mall PLMs (BERT/BART/T5)</a:t>
            </a:r>
          </a:p>
        </p:txBody>
      </p:sp>
      <p:pic>
        <p:nvPicPr>
          <p:cNvPr id="41" name="Picture 2" descr="Infographic of difference between extractive and abstractive summarization">
            <a:extLst>
              <a:ext uri="{FF2B5EF4-FFF2-40B4-BE49-F238E27FC236}">
                <a16:creationId xmlns:a16="http://schemas.microsoft.com/office/drawing/2014/main" id="{9618209C-6886-3C11-89C3-6A51F0C6D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929" y="7894091"/>
            <a:ext cx="6377245" cy="315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AB6A9E8-AF5A-0A62-82C1-E718221A4906}"/>
              </a:ext>
            </a:extLst>
          </p:cNvPr>
          <p:cNvSpPr/>
          <p:nvPr/>
        </p:nvSpPr>
        <p:spPr>
          <a:xfrm>
            <a:off x="8237552" y="8433881"/>
            <a:ext cx="2988168" cy="23864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E107444-03FE-9A64-A1CE-CB0AC6AFD4B9}"/>
              </a:ext>
            </a:extLst>
          </p:cNvPr>
          <p:cNvCxnSpPr>
            <a:cxnSpLocks/>
          </p:cNvCxnSpPr>
          <p:nvPr/>
        </p:nvCxnSpPr>
        <p:spPr>
          <a:xfrm flipV="1">
            <a:off x="7772400" y="10837348"/>
            <a:ext cx="465151" cy="61750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F7E819C-4869-CBA7-5972-00A0138A805B}"/>
              </a:ext>
            </a:extLst>
          </p:cNvPr>
          <p:cNvSpPr txBox="1"/>
          <p:nvPr/>
        </p:nvSpPr>
        <p:spPr>
          <a:xfrm>
            <a:off x="5027164" y="11428671"/>
            <a:ext cx="6198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u="sng" dirty="0">
                <a:latin typeface="Arial" panose="020B0604020202020204" pitchFamily="34" charset="0"/>
                <a:cs typeface="Arial" panose="020B0604020202020204" pitchFamily="34" charset="0"/>
              </a:rPr>
              <a:t>Our focus: Abstractive Summarization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0F02E8-0659-6CA2-15A8-21BE6F9F0E5C}"/>
              </a:ext>
            </a:extLst>
          </p:cNvPr>
          <p:cNvSpPr txBox="1"/>
          <p:nvPr/>
        </p:nvSpPr>
        <p:spPr>
          <a:xfrm>
            <a:off x="3421214" y="12220586"/>
            <a:ext cx="78822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 Cost-effective for fine-tuning;</a:t>
            </a:r>
          </a:p>
          <a:p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 Low factualness and interpretability</a:t>
            </a:r>
          </a:p>
        </p:txBody>
      </p:sp>
      <p:pic>
        <p:nvPicPr>
          <p:cNvPr id="1030" name="Picture 6" descr="Llama - Free animals icons">
            <a:extLst>
              <a:ext uri="{FF2B5EF4-FFF2-40B4-BE49-F238E27FC236}">
                <a16:creationId xmlns:a16="http://schemas.microsoft.com/office/drawing/2014/main" id="{59138922-B575-D657-7A7A-A5757AEF6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044" y="15044071"/>
            <a:ext cx="1024071" cy="102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8DA84D9-BD07-3342-79EA-EE6E715618A0}"/>
              </a:ext>
            </a:extLst>
          </p:cNvPr>
          <p:cNvSpPr txBox="1"/>
          <p:nvPr/>
        </p:nvSpPr>
        <p:spPr>
          <a:xfrm>
            <a:off x="35193" y="16123916"/>
            <a:ext cx="33929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LLMs </a:t>
            </a:r>
          </a:p>
          <a:p>
            <a:pPr algn="ctr"/>
            <a:r>
              <a:rPr lang="en-US" sz="3200" dirty="0"/>
              <a:t>(e.g., GPT, </a:t>
            </a:r>
            <a:r>
              <a:rPr lang="en-US" sz="3200" dirty="0" err="1"/>
              <a:t>LLaMA</a:t>
            </a:r>
            <a:r>
              <a:rPr lang="en-US" sz="3200" dirty="0"/>
              <a:t>)</a:t>
            </a:r>
            <a:endParaRPr lang="en-CN" sz="3200" dirty="0"/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E68F179F-2F33-F1EA-30B3-371C69C8433D}"/>
              </a:ext>
            </a:extLst>
          </p:cNvPr>
          <p:cNvSpPr/>
          <p:nvPr/>
        </p:nvSpPr>
        <p:spPr>
          <a:xfrm>
            <a:off x="2879728" y="15366510"/>
            <a:ext cx="500164" cy="1094471"/>
          </a:xfrm>
          <a:prstGeom prst="leftBrace">
            <a:avLst>
              <a:gd name="adj1" fmla="val 42316"/>
              <a:gd name="adj2" fmla="val 50000"/>
            </a:avLst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08BF68-1465-CCF6-DF6E-568474E85DE4}"/>
              </a:ext>
            </a:extLst>
          </p:cNvPr>
          <p:cNvSpPr txBox="1"/>
          <p:nvPr/>
        </p:nvSpPr>
        <p:spPr>
          <a:xfrm>
            <a:off x="3538145" y="14907500"/>
            <a:ext cx="83040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 High interpretability with rationale; </a:t>
            </a:r>
          </a:p>
          <a:p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		  High NLU capabilities.</a:t>
            </a:r>
          </a:p>
          <a:p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 Costly for fine-tuning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D37A0B-B1D3-431D-C218-2C09FF09FA77}"/>
              </a:ext>
            </a:extLst>
          </p:cNvPr>
          <p:cNvSpPr txBox="1"/>
          <p:nvPr/>
        </p:nvSpPr>
        <p:spPr>
          <a:xfrm>
            <a:off x="674706" y="17553745"/>
            <a:ext cx="110505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3600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train a small model </a:t>
            </a:r>
            <a:r>
              <a:rPr lang="en-US" sz="3600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learn</a:t>
            </a:r>
            <a:r>
              <a:rPr lang="en-CN" sz="3600" u="sng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interpretable summarization ability from LLMs?</a:t>
            </a:r>
          </a:p>
        </p:txBody>
      </p:sp>
      <p:pic>
        <p:nvPicPr>
          <p:cNvPr id="1032" name="Picture 8" descr="openai&quot; Icon - Download for free – Iconduck">
            <a:extLst>
              <a:ext uri="{FF2B5EF4-FFF2-40B4-BE49-F238E27FC236}">
                <a16:creationId xmlns:a16="http://schemas.microsoft.com/office/drawing/2014/main" id="{6C1248DA-A691-6968-3CCF-56AC97E58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42" y="15077966"/>
            <a:ext cx="1041108" cy="105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Left Brace 54">
            <a:extLst>
              <a:ext uri="{FF2B5EF4-FFF2-40B4-BE49-F238E27FC236}">
                <a16:creationId xmlns:a16="http://schemas.microsoft.com/office/drawing/2014/main" id="{3C41A82F-606C-237A-7E7A-8543C9DECA5D}"/>
              </a:ext>
            </a:extLst>
          </p:cNvPr>
          <p:cNvSpPr/>
          <p:nvPr/>
        </p:nvSpPr>
        <p:spPr>
          <a:xfrm>
            <a:off x="2803397" y="12468530"/>
            <a:ext cx="500164" cy="1094471"/>
          </a:xfrm>
          <a:prstGeom prst="leftBrace">
            <a:avLst>
              <a:gd name="adj1" fmla="val 42316"/>
              <a:gd name="adj2" fmla="val 50000"/>
            </a:avLst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Down Arrow 55">
            <a:extLst>
              <a:ext uri="{FF2B5EF4-FFF2-40B4-BE49-F238E27FC236}">
                <a16:creationId xmlns:a16="http://schemas.microsoft.com/office/drawing/2014/main" id="{87D36703-8628-6228-D679-206167085725}"/>
              </a:ext>
            </a:extLst>
          </p:cNvPr>
          <p:cNvSpPr/>
          <p:nvPr/>
        </p:nvSpPr>
        <p:spPr>
          <a:xfrm rot="13954146">
            <a:off x="11011439" y="16674077"/>
            <a:ext cx="1194689" cy="891220"/>
          </a:xfrm>
          <a:prstGeom prst="downArrow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51F90F-9D51-217D-DF02-4C499ED2E453}"/>
              </a:ext>
            </a:extLst>
          </p:cNvPr>
          <p:cNvSpPr txBox="1"/>
          <p:nvPr/>
        </p:nvSpPr>
        <p:spPr>
          <a:xfrm>
            <a:off x="12351278" y="14548897"/>
            <a:ext cx="17743879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Step 1 – LLM Rationale Probing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For each pair of &lt;document, ground-truth summary&gt;, we let the LLM generate </a:t>
            </a:r>
            <a:r>
              <a:rPr lang="en-CN" sz="3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 aspects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C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triples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C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and a </a:t>
            </a:r>
            <a:r>
              <a:rPr lang="en-CN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, as a structured rationale.</a:t>
            </a:r>
          </a:p>
          <a:p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Step 2 – Golden Rationale Selection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Score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evaluates the semantic similarity between the generated summary and the ground truth. </a:t>
            </a:r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Coherence Score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measures how well the aspects and triples align with the document's latent topics. </a:t>
            </a:r>
          </a:p>
          <a:p>
            <a:endParaRPr lang="en-US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3200" b="1" dirty="0">
                <a:latin typeface="Arial" panose="020B0604020202020204" pitchFamily="34" charset="0"/>
                <a:cs typeface="Arial" panose="020B0604020202020204" pitchFamily="34" charset="0"/>
              </a:rPr>
              <a:t>Step 3 – Local Training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We employ a </a:t>
            </a:r>
            <a:r>
              <a:rPr lang="en-CN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curriculum learning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 strategy, starting with simpler tasks to the more complex task of a rationale-summary generation.</a:t>
            </a:r>
          </a:p>
          <a:p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8210535-6CDB-FB2D-C765-316C2CC9A8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87561" y="20410923"/>
            <a:ext cx="5339020" cy="179198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B8823A9-D75A-CCD8-937B-E559932B01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291390" y="20557986"/>
            <a:ext cx="5161731" cy="160252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00CFB20-11DF-0F23-D9EE-58D2C350C2B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458543" y="20474951"/>
            <a:ext cx="3654267" cy="71765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5F40FEE-35CC-D5D3-9C6A-68C455981A9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15366" y="20997611"/>
            <a:ext cx="3654267" cy="118368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2CB305C-B91D-5B61-3171-57D3245F53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34556" y="19023380"/>
            <a:ext cx="6970277" cy="3547108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FC648FA-ECED-F82C-42AF-51CEA70B3ECA}"/>
              </a:ext>
            </a:extLst>
          </p:cNvPr>
          <p:cNvSpPr/>
          <p:nvPr/>
        </p:nvSpPr>
        <p:spPr>
          <a:xfrm>
            <a:off x="9277663" y="22860887"/>
            <a:ext cx="11594593" cy="903384"/>
          </a:xfrm>
          <a:prstGeom prst="roundRect">
            <a:avLst>
              <a:gd name="adj" fmla="val 26337"/>
            </a:avLst>
          </a:prstGeom>
          <a:solidFill>
            <a:srgbClr val="7030A0"/>
          </a:solidFill>
          <a:ln w="762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CN" sz="4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Experiments &amp; Results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8C81025-2893-7E43-5CF1-025F7F70D203}"/>
              </a:ext>
            </a:extLst>
          </p:cNvPr>
          <p:cNvSpPr txBox="1"/>
          <p:nvPr/>
        </p:nvSpPr>
        <p:spPr>
          <a:xfrm>
            <a:off x="19861448" y="35784358"/>
            <a:ext cx="960657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Adapting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TriSum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to other NLP tasks (e.g., QA, machine translation)</a:t>
            </a:r>
          </a:p>
          <a:p>
            <a:pPr marL="514350" indent="-514350">
              <a:buAutoNum type="arabicPeriod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Generating richer rationales with graph representations or knowledge bases</a:t>
            </a:r>
          </a:p>
          <a:p>
            <a:pPr marL="514350" indent="-514350">
              <a:buFontTx/>
              <a:buAutoNum type="arabicPeriod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Developing interactive, user-centric summarization systems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user-centric experiences.</a:t>
            </a:r>
          </a:p>
          <a:p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Thank you for your interest!</a:t>
            </a:r>
          </a:p>
          <a:p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Please ema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il 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  <a:hlinkClick r:id="rId19"/>
              </a:rPr>
              <a:t>pj20@illinois.edu</a:t>
            </a:r>
            <a:r>
              <a:rPr lang="en-CN" sz="3200" dirty="0">
                <a:latin typeface="Arial" panose="020B0604020202020204" pitchFamily="34" charset="0"/>
                <a:cs typeface="Arial" panose="020B0604020202020204" pitchFamily="34" charset="0"/>
              </a:rPr>
              <a:t> for any questions.</a:t>
            </a:r>
          </a:p>
        </p:txBody>
      </p:sp>
    </p:spTree>
    <p:extLst>
      <p:ext uri="{BB962C8B-B14F-4D97-AF65-F5344CB8AC3E}">
        <p14:creationId xmlns:p14="http://schemas.microsoft.com/office/powerpoint/2010/main" val="285397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426</Words>
  <Application>Microsoft Macintosh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Jiang, Patrick</dc:creator>
  <cp:lastModifiedBy>Jiang, Patrick</cp:lastModifiedBy>
  <cp:revision>1</cp:revision>
  <dcterms:created xsi:type="dcterms:W3CDTF">2024-05-25T21:47:37Z</dcterms:created>
  <dcterms:modified xsi:type="dcterms:W3CDTF">2024-05-25T22:49:56Z</dcterms:modified>
</cp:coreProperties>
</file>